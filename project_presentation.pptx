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nton" charset="1" panose="00000500000000000000"/>
      <p:regular r:id="rId22"/>
    </p:embeddedFont>
    <p:embeddedFont>
      <p:font typeface="Agrandir Bold" charset="1" panose="00000800000000000000"/>
      <p:regular r:id="rId23"/>
    </p:embeddedFont>
    <p:embeddedFont>
      <p:font typeface="Agrandir" charset="1" panose="00000500000000000000"/>
      <p:regular r:id="rId24"/>
    </p:embeddedFont>
    <p:embeddedFont>
      <p:font typeface="Arial Bold" charset="1" panose="020B0704020202020204"/>
      <p:regular r:id="rId25"/>
    </p:embeddedFont>
    <p:embeddedFont>
      <p:font typeface="Arial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2" Target="../media/image1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9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1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9.pn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39.pn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2" Target="../media/image38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48.png" Type="http://schemas.openxmlformats.org/officeDocument/2006/relationships/image"/><Relationship Id="rId12" Target="../media/image49.svg" Type="http://schemas.openxmlformats.org/officeDocument/2006/relationships/image"/><Relationship Id="rId13" Target="../media/image50.png" Type="http://schemas.openxmlformats.org/officeDocument/2006/relationships/image"/><Relationship Id="rId2" Target="../media/image38.pn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06649" y="-65257"/>
            <a:ext cx="10675733" cy="1067573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65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98847" y="826941"/>
            <a:ext cx="8891337" cy="88913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9000"/>
                  </a:srgbClr>
                </a:gs>
                <a:gs pos="100000">
                  <a:srgbClr val="FFFFFF">
                    <a:alpha val="4602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3115" y="1711209"/>
            <a:ext cx="7122801" cy="712280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solidFill>
              <a:srgbClr val="22588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512291" y="3703781"/>
            <a:ext cx="8464450" cy="143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38"/>
              </a:lnSpc>
            </a:pPr>
            <a:r>
              <a:rPr lang="en-US" sz="10625">
                <a:solidFill>
                  <a:srgbClr val="3584D0"/>
                </a:solidFill>
                <a:latin typeface="Anton"/>
                <a:ea typeface="Anton"/>
                <a:cs typeface="Anton"/>
                <a:sym typeface="Anton"/>
              </a:rPr>
              <a:t>DÉTECTION DES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12291" y="5009394"/>
            <a:ext cx="8464450" cy="143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38"/>
              </a:lnSpc>
            </a:pPr>
            <a:r>
              <a:rPr lang="en-US" sz="10625">
                <a:solidFill>
                  <a:srgbClr val="22588D"/>
                </a:solidFill>
                <a:latin typeface="Anton"/>
                <a:ea typeface="Anton"/>
                <a:cs typeface="Anton"/>
                <a:sym typeface="Anton"/>
              </a:rPr>
              <a:t>FAUX BILLETS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34026" y="7037719"/>
            <a:ext cx="4820980" cy="25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3"/>
              </a:lnSpc>
            </a:pPr>
            <a:r>
              <a:rPr lang="en-US" b="true" sz="1581" spc="618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PROJET 12 — DATA ANALYST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52355" y="7715776"/>
            <a:ext cx="4021323" cy="297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41"/>
              </a:lnSpc>
            </a:pPr>
            <a:r>
              <a:rPr lang="en-US" sz="1898">
                <a:solidFill>
                  <a:srgbClr val="22588D"/>
                </a:solidFill>
                <a:latin typeface="Agrandir"/>
                <a:ea typeface="Agrandir"/>
                <a:cs typeface="Agrandir"/>
                <a:sym typeface="Agrandir"/>
              </a:rPr>
              <a:t>Sara El Imrani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7189" y="5143500"/>
            <a:ext cx="470203" cy="17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4"/>
              </a:lnSpc>
            </a:pPr>
            <a:r>
              <a:rPr lang="en-US" b="true" sz="12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6850" y="1028700"/>
            <a:ext cx="327451" cy="438195"/>
          </a:xfrm>
          <a:custGeom>
            <a:avLst/>
            <a:gdLst/>
            <a:ahLst/>
            <a:cxnLst/>
            <a:rect r="r" b="b" t="t" l="l"/>
            <a:pathLst>
              <a:path h="438195" w="327451">
                <a:moveTo>
                  <a:pt x="0" y="0"/>
                </a:moveTo>
                <a:lnTo>
                  <a:pt x="327452" y="0"/>
                </a:lnTo>
                <a:lnTo>
                  <a:pt x="327452" y="438195"/>
                </a:lnTo>
                <a:lnTo>
                  <a:pt x="0" y="438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5332" y="1592475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320320" y="5086350"/>
            <a:ext cx="8715449" cy="66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1"/>
              </a:lnSpc>
            </a:pPr>
            <a:r>
              <a:rPr lang="en-US" sz="204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Construire un algorithme capable de prédire automatiquement si un billet est authentique ou faux à partir de ses dimensions géométriques.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255332" y="7035564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320320" y="2378917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CONTEXTE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20320" y="3390734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ET MISSION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7189" y="5133975"/>
            <a:ext cx="470203" cy="29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1"/>
              </a:lnSpc>
            </a:pPr>
            <a:r>
              <a:rPr lang="en-US" b="true" sz="1898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20320" y="6487602"/>
            <a:ext cx="8521943" cy="131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7"/>
              </a:lnSpc>
            </a:pPr>
            <a:r>
              <a:rPr lang="en-US" sz="209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L'objectif est de fournir à l'Organisation Nationale de Lutte contre le Faux-Monnayage (ONCFM) un outil fiable de détection automatique, en s'appuyant uniquement sur les mesures physiques des billets sans analyse visuelle ou chimique.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6294" y="2283434"/>
            <a:ext cx="6288363" cy="6288363"/>
            <a:chOff x="0" y="0"/>
            <a:chExt cx="14840029" cy="148400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58A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9"/>
              <a:stretch>
                <a:fillRect l="-27" t="0" r="-27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5318837" y="272536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6850" y="1028700"/>
            <a:ext cx="327451" cy="438195"/>
          </a:xfrm>
          <a:custGeom>
            <a:avLst/>
            <a:gdLst/>
            <a:ahLst/>
            <a:cxnLst/>
            <a:rect r="r" b="b" t="t" l="l"/>
            <a:pathLst>
              <a:path h="438195" w="327451">
                <a:moveTo>
                  <a:pt x="0" y="0"/>
                </a:moveTo>
                <a:lnTo>
                  <a:pt x="327452" y="0"/>
                </a:lnTo>
                <a:lnTo>
                  <a:pt x="327452" y="438195"/>
                </a:lnTo>
                <a:lnTo>
                  <a:pt x="0" y="438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6755600" y="1306990"/>
            <a:ext cx="1901321" cy="3417407"/>
          </a:xfrm>
          <a:custGeom>
            <a:avLst/>
            <a:gdLst/>
            <a:ahLst/>
            <a:cxnLst/>
            <a:rect r="r" b="b" t="t" l="l"/>
            <a:pathLst>
              <a:path h="3417407" w="1901321">
                <a:moveTo>
                  <a:pt x="0" y="0"/>
                </a:moveTo>
                <a:lnTo>
                  <a:pt x="1901321" y="0"/>
                </a:lnTo>
                <a:lnTo>
                  <a:pt x="1901321" y="3417407"/>
                </a:lnTo>
                <a:lnTo>
                  <a:pt x="0" y="34174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-468370" y="5672570"/>
            <a:ext cx="1901321" cy="3417407"/>
          </a:xfrm>
          <a:custGeom>
            <a:avLst/>
            <a:gdLst/>
            <a:ahLst/>
            <a:cxnLst/>
            <a:rect r="r" b="b" t="t" l="l"/>
            <a:pathLst>
              <a:path h="3417407" w="1901321">
                <a:moveTo>
                  <a:pt x="0" y="0"/>
                </a:moveTo>
                <a:lnTo>
                  <a:pt x="1901320" y="0"/>
                </a:lnTo>
                <a:lnTo>
                  <a:pt x="1901320" y="3417406"/>
                </a:lnTo>
                <a:lnTo>
                  <a:pt x="0" y="34174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48598" y="1839127"/>
            <a:ext cx="5522690" cy="6250714"/>
          </a:xfrm>
          <a:custGeom>
            <a:avLst/>
            <a:gdLst/>
            <a:ahLst/>
            <a:cxnLst/>
            <a:rect r="r" b="b" t="t" l="l"/>
            <a:pathLst>
              <a:path h="6250714" w="5522690">
                <a:moveTo>
                  <a:pt x="0" y="0"/>
                </a:moveTo>
                <a:lnTo>
                  <a:pt x="5522690" y="0"/>
                </a:lnTo>
                <a:lnTo>
                  <a:pt x="5522690" y="6250714"/>
                </a:lnTo>
                <a:lnTo>
                  <a:pt x="0" y="62507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530242">
            <a:off x="13735111" y="5918834"/>
            <a:ext cx="450214" cy="1414959"/>
          </a:xfrm>
          <a:custGeom>
            <a:avLst/>
            <a:gdLst/>
            <a:ahLst/>
            <a:cxnLst/>
            <a:rect r="r" b="b" t="t" l="l"/>
            <a:pathLst>
              <a:path h="1414959" w="450214">
                <a:moveTo>
                  <a:pt x="0" y="0"/>
                </a:moveTo>
                <a:lnTo>
                  <a:pt x="450214" y="0"/>
                </a:lnTo>
                <a:lnTo>
                  <a:pt x="450214" y="1414958"/>
                </a:lnTo>
                <a:lnTo>
                  <a:pt x="0" y="14149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7189" y="5133975"/>
            <a:ext cx="470203" cy="235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4"/>
              </a:lnSpc>
            </a:pPr>
            <a:r>
              <a:rPr lang="en-US" b="true" sz="1540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752388" y="4392581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5" y="0"/>
                </a:lnTo>
                <a:lnTo>
                  <a:pt x="530145" y="530146"/>
                </a:lnTo>
                <a:lnTo>
                  <a:pt x="0" y="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752388" y="5230086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5" y="0"/>
                </a:lnTo>
                <a:lnTo>
                  <a:pt x="530145" y="530145"/>
                </a:lnTo>
                <a:lnTo>
                  <a:pt x="0" y="53014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52388" y="6067590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5" y="0"/>
                </a:lnTo>
                <a:lnTo>
                  <a:pt x="530145" y="530146"/>
                </a:lnTo>
                <a:lnTo>
                  <a:pt x="0" y="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752388" y="6905094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5" y="0"/>
                </a:lnTo>
                <a:lnTo>
                  <a:pt x="530145" y="530146"/>
                </a:lnTo>
                <a:lnTo>
                  <a:pt x="0" y="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52388" y="1983490"/>
            <a:ext cx="6105749" cy="8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43"/>
              </a:lnSpc>
            </a:pPr>
            <a:r>
              <a:rPr lang="en-US" sz="62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JEU 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52388" y="2995306"/>
            <a:ext cx="6105749" cy="8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43"/>
              </a:lnSpc>
            </a:pPr>
            <a:r>
              <a:rPr lang="en-US" sz="6219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DONNÉES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76068" y="4382099"/>
            <a:ext cx="3366998" cy="40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5"/>
              </a:lnSpc>
            </a:pPr>
            <a:r>
              <a:rPr lang="en-US" sz="2256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1 500 billets au total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76068" y="5219604"/>
            <a:ext cx="3366998" cy="40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5"/>
              </a:lnSpc>
            </a:pPr>
            <a:r>
              <a:rPr lang="en-US" sz="2256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Variable cible : is_genuine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76068" y="6057108"/>
            <a:ext cx="3366998" cy="40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5"/>
              </a:lnSpc>
            </a:pPr>
            <a:r>
              <a:rPr lang="en-US" sz="2256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6 mesures géométriques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76068" y="6894612"/>
            <a:ext cx="3366998" cy="40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5"/>
              </a:lnSpc>
            </a:pPr>
            <a:r>
              <a:rPr lang="en-US" sz="2256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Format : CSV structuré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58565" y="7609858"/>
            <a:ext cx="5347696" cy="2191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19"/>
              </a:lnSpc>
            </a:pPr>
            <a:r>
              <a:rPr lang="en-US" sz="178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Les six variables explicatives sont : diagonal, height_left, height_right, margin_low, margin_up et length. Chaque billet est décrit par ces dimensions physiques en millimètres. La variable cible is_genuine indique si le billet est authentique (True) ou faux (False). Le jeu de données contient 1 500 observations au total, réparties en 1 000 vrais billets et 500 faux billets.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35769" y="5199908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063674" y="745616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68179" y="9050008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99742" y="-1407876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67518" y="3050044"/>
            <a:ext cx="4943872" cy="5190417"/>
          </a:xfrm>
          <a:custGeom>
            <a:avLst/>
            <a:gdLst/>
            <a:ahLst/>
            <a:cxnLst/>
            <a:rect r="r" b="b" t="t" l="l"/>
            <a:pathLst>
              <a:path h="5190417" w="4943872">
                <a:moveTo>
                  <a:pt x="0" y="0"/>
                </a:moveTo>
                <a:lnTo>
                  <a:pt x="4943872" y="0"/>
                </a:lnTo>
                <a:lnTo>
                  <a:pt x="4943872" y="5190416"/>
                </a:lnTo>
                <a:lnTo>
                  <a:pt x="0" y="51904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793993" y="2794733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ANALYSE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93993" y="3806550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EXPLORATOIRE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7189" y="5133975"/>
            <a:ext cx="470203" cy="23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68"/>
              </a:lnSpc>
            </a:pPr>
            <a:r>
              <a:rPr lang="en-US" b="true" sz="1514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04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793993" y="5396615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6" y="0"/>
                </a:lnTo>
                <a:lnTo>
                  <a:pt x="530146" y="530146"/>
                </a:lnTo>
                <a:lnTo>
                  <a:pt x="0" y="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617674" y="5386133"/>
            <a:ext cx="1923619" cy="73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</a:pPr>
            <a:r>
              <a:rPr lang="en-US" sz="2217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Types &amp; Structure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793993" y="7498386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6" y="0"/>
                </a:lnTo>
                <a:lnTo>
                  <a:pt x="530146" y="530146"/>
                </a:lnTo>
                <a:lnTo>
                  <a:pt x="0" y="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12841" y="7389494"/>
            <a:ext cx="1733284" cy="73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</a:pPr>
            <a:r>
              <a:rPr lang="en-US" sz="2217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Valeurs Manquantes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12743" y="5311633"/>
            <a:ext cx="5838110" cy="17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8"/>
              </a:lnSpc>
            </a:pPr>
            <a:r>
              <a:rPr lang="en-US" sz="183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Toutes les variables présentent des types cohérents. Les six mesures géométriques (diagonal, height_left, height_right, margin_low, margin_up, length) sont bien de type numérique. La variable cible is_genuine est de type booléen. Aucune anomalie de typage détectée sur les 1 500 billets.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08933" y="7342697"/>
            <a:ext cx="5838110" cy="17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8"/>
              </a:lnSpc>
            </a:pPr>
            <a:r>
              <a:rPr lang="en-US" sz="183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37 valeurs manquantes identifiées, représentant 2,47 % du jeu de données. Ces valeurs sont exclusivement localisées dans la colonne margin_low. Les cinq autres colonnes (diagonal, height_left, height_right, margin_up, length) ne présentent aucune valeur manquante.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99742" y="-1407876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69330" y="4633246"/>
            <a:ext cx="7205001" cy="4132701"/>
            <a:chOff x="0" y="0"/>
            <a:chExt cx="7981950" cy="45783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01070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6"/>
              <a:stretch>
                <a:fillRect l="0" t="-232" r="0" b="-232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785006" y="7828629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4063674" y="745616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3398" y="2565897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44000" y="2723886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26850" y="2378917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TRAITEMENT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26850" y="3390734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MARGIN_LOW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7189" y="5133975"/>
            <a:ext cx="470203" cy="2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5"/>
              </a:lnSpc>
            </a:pPr>
            <a:r>
              <a:rPr lang="en-US" b="true" sz="1500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05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283398" y="4191297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50"/>
                </a:lnTo>
                <a:lnTo>
                  <a:pt x="0" y="1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144000" y="4349286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283398" y="5816698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144000" y="5974686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4"/>
                </a:lnTo>
                <a:lnTo>
                  <a:pt x="0" y="10699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283398" y="7442098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144000" y="7600087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724557" y="2925877"/>
            <a:ext cx="2986326" cy="40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6"/>
              </a:lnSpc>
            </a:pPr>
            <a:r>
              <a:rPr lang="en-US" sz="2198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Régression linéaire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10247" y="2983323"/>
            <a:ext cx="511963" cy="39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6"/>
              </a:lnSpc>
            </a:pPr>
            <a:r>
              <a:rPr lang="en-US" b="true" sz="2198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10247" y="4654174"/>
            <a:ext cx="511963" cy="39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6"/>
              </a:lnSpc>
            </a:pPr>
            <a:r>
              <a:rPr lang="en-US" b="true" sz="2198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2.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10247" y="6231677"/>
            <a:ext cx="511963" cy="39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6"/>
              </a:lnSpc>
            </a:pPr>
            <a:r>
              <a:rPr lang="en-US" b="true" sz="2198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3.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10247" y="7857078"/>
            <a:ext cx="511963" cy="39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6"/>
              </a:lnSpc>
            </a:pPr>
            <a:r>
              <a:rPr lang="en-US" b="true" sz="2198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4.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24557" y="4543339"/>
            <a:ext cx="2986326" cy="40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6"/>
              </a:lnSpc>
            </a:pPr>
            <a:r>
              <a:rPr lang="en-US" sz="2198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1 463 billets complets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24557" y="6172372"/>
            <a:ext cx="2986326" cy="40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6"/>
              </a:lnSpc>
            </a:pPr>
            <a:r>
              <a:rPr lang="en-US" sz="2198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80 % train / 20 % test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724557" y="7801404"/>
            <a:ext cx="3715946" cy="40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6"/>
              </a:lnSpc>
            </a:pPr>
            <a:r>
              <a:rPr lang="en-US" sz="2198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Imputation vs suppression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5462" y="1892235"/>
            <a:ext cx="5547735" cy="6372522"/>
            <a:chOff x="0" y="0"/>
            <a:chExt cx="812800" cy="933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933640"/>
            </a:xfrm>
            <a:custGeom>
              <a:avLst/>
              <a:gdLst/>
              <a:ahLst/>
              <a:cxnLst/>
              <a:rect r="r" b="b" t="t" l="l"/>
              <a:pathLst>
                <a:path h="933640" w="812800">
                  <a:moveTo>
                    <a:pt x="32097" y="0"/>
                  </a:moveTo>
                  <a:lnTo>
                    <a:pt x="780703" y="0"/>
                  </a:lnTo>
                  <a:cubicBezTo>
                    <a:pt x="789216" y="0"/>
                    <a:pt x="797380" y="3382"/>
                    <a:pt x="803399" y="9401"/>
                  </a:cubicBezTo>
                  <a:cubicBezTo>
                    <a:pt x="809418" y="15420"/>
                    <a:pt x="812800" y="23584"/>
                    <a:pt x="812800" y="32097"/>
                  </a:cubicBezTo>
                  <a:lnTo>
                    <a:pt x="812800" y="901543"/>
                  </a:lnTo>
                  <a:cubicBezTo>
                    <a:pt x="812800" y="919270"/>
                    <a:pt x="798430" y="933640"/>
                    <a:pt x="780703" y="933640"/>
                  </a:cubicBezTo>
                  <a:lnTo>
                    <a:pt x="32097" y="933640"/>
                  </a:lnTo>
                  <a:cubicBezTo>
                    <a:pt x="23584" y="933640"/>
                    <a:pt x="15420" y="930258"/>
                    <a:pt x="9401" y="924239"/>
                  </a:cubicBezTo>
                  <a:cubicBezTo>
                    <a:pt x="3382" y="918220"/>
                    <a:pt x="0" y="910056"/>
                    <a:pt x="0" y="901543"/>
                  </a:cubicBezTo>
                  <a:lnTo>
                    <a:pt x="0" y="32097"/>
                  </a:lnTo>
                  <a:cubicBezTo>
                    <a:pt x="0" y="23584"/>
                    <a:pt x="3382" y="15420"/>
                    <a:pt x="9401" y="9401"/>
                  </a:cubicBezTo>
                  <a:cubicBezTo>
                    <a:pt x="15420" y="3382"/>
                    <a:pt x="23584" y="0"/>
                    <a:pt x="3209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4" r="0" b="-104"/>
              </a:stretch>
            </a:blipFill>
            <a:ln w="95250" cap="rnd">
              <a:gradFill>
                <a:gsLst>
                  <a:gs pos="0">
                    <a:srgbClr val="22588D">
                      <a:alpha val="100000"/>
                    </a:srgbClr>
                  </a:gs>
                  <a:gs pos="100000">
                    <a:srgbClr val="58A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-897474" y="5596459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504292" y="656539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6" y="0"/>
                </a:lnTo>
                <a:lnTo>
                  <a:pt x="22893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20320" y="4263279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5" y="0"/>
                </a:lnTo>
                <a:lnTo>
                  <a:pt x="530145" y="530145"/>
                </a:lnTo>
                <a:lnTo>
                  <a:pt x="0" y="5301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320320" y="7009728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5" y="0"/>
                </a:lnTo>
                <a:lnTo>
                  <a:pt x="530145" y="530145"/>
                </a:lnTo>
                <a:lnTo>
                  <a:pt x="0" y="5301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320320" y="1970035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QUALITÉ 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20320" y="2981852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L'IMPUTATION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189" y="5133975"/>
            <a:ext cx="470203" cy="21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9"/>
              </a:lnSpc>
            </a:pPr>
            <a:r>
              <a:rPr lang="en-US" b="true" sz="1391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4262322"/>
            <a:ext cx="2986326" cy="35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5"/>
              </a:lnSpc>
            </a:pPr>
            <a:r>
              <a:rPr lang="en-US" sz="2038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Métriques de régression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4826524"/>
            <a:ext cx="7051972" cy="187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9"/>
              </a:lnSpc>
            </a:pPr>
            <a:r>
              <a:rPr lang="en-US" sz="183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MAE : 0,3 mm — erreur absolue moyenne très faible, indiquant que les valeurs imputées sont proches des vraies mesures. RMSE : 0,4 mm — erreur quadratique moyenne, légèrement supérieure au MAE, révélant quelques écarts ponctuels. R² : 0,54  le modèle explique environ 54,6 % de la variance de margin_low à partir des cinq autres mesures géométriques.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7067235"/>
            <a:ext cx="3795253" cy="35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5"/>
              </a:lnSpc>
            </a:pPr>
            <a:r>
              <a:rPr lang="en-US" sz="2038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Réentraînement et prédiction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7726272"/>
            <a:ext cx="7051972" cy="181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1"/>
              </a:lnSpc>
            </a:pPr>
            <a:r>
              <a:rPr lang="en-US" sz="183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L’après évaluation sur une séparation 80/20, la régression linéaire est réentraînée sur l’ensemble des 1 463 billets complets afin de prédire les 37 valeurs manquantes). Les coefficients obtenus servent ensuite à prédire les 37 valeurs manquantes de margin_low. L'imputation est préférée à la suppression afin de conserver la totalité des observations pour la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9742" y="7796907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92212" y="-809602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1236052" y="1247798"/>
            <a:ext cx="4178785" cy="8268444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01070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112" t="0" r="-112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626850" y="4422128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6" y="0"/>
                </a:lnTo>
                <a:lnTo>
                  <a:pt x="530146" y="530146"/>
                </a:lnTo>
                <a:lnTo>
                  <a:pt x="0" y="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26850" y="6704643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6" y="0"/>
                </a:lnTo>
                <a:lnTo>
                  <a:pt x="530146" y="530146"/>
                </a:lnTo>
                <a:lnTo>
                  <a:pt x="0" y="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26850" y="2074117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PRÉPARATION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6850" y="3085934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CLASSIFICATION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7189" y="5133975"/>
            <a:ext cx="470203" cy="2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0"/>
              </a:lnSpc>
            </a:pPr>
            <a:r>
              <a:rPr lang="en-US" b="true" sz="1381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50531" y="4421171"/>
            <a:ext cx="2986326" cy="357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</a:pPr>
            <a:r>
              <a:rPr lang="en-US" sz="202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Variables et Séparation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50531" y="5013949"/>
            <a:ext cx="7051972" cy="147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0"/>
              </a:lnSpc>
            </a:pPr>
            <a:r>
              <a:rPr lang="en-US" sz="189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Six variables explicatives retenues: diagonal, height_left, height_right, margin_low (imputée), margin_up et length. La variable cible is_genuine est binaire. Une séparation stratifiée 80/20 garantit la représentativité de chaque classe dans les deux ensembles.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50531" y="6703686"/>
            <a:ext cx="2986326" cy="357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</a:pPr>
            <a:r>
              <a:rPr lang="en-US" sz="202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Répartition des Données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50531" y="7296463"/>
            <a:ext cx="7051972" cy="119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0"/>
              </a:lnSpc>
            </a:pPr>
            <a:r>
              <a:rPr lang="en-US" sz="189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1 200 billets en entraînement et 300 billets en test. La stratification conserve la répartition d'origine: 66,7 % de vrais billets et 33,3 % de faux billets dans chaque ensemble, évitant tout biais lié au déséquilibre des classes.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97973" y="835183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61199" y="-1045926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65656" y="2337533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MODÈLES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65656" y="3349350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ÉVALUÉS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7189" y="5124450"/>
            <a:ext cx="470203" cy="25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23"/>
              </a:lnSpc>
            </a:pPr>
            <a:r>
              <a:rPr lang="en-US" b="true" sz="1570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8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365656" y="4837944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26258" y="4995933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365656" y="6463345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226258" y="6621333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4"/>
                </a:lnTo>
                <a:lnTo>
                  <a:pt x="0" y="106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806815" y="5197924"/>
            <a:ext cx="2986326" cy="40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7"/>
              </a:lnSpc>
            </a:pPr>
            <a:r>
              <a:rPr lang="en-US" sz="23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Régression Logistique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92505" y="5255370"/>
            <a:ext cx="511963" cy="41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592505" y="6926221"/>
            <a:ext cx="511963" cy="41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806815" y="6815387"/>
            <a:ext cx="2986326" cy="40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7"/>
              </a:lnSpc>
            </a:pPr>
            <a:r>
              <a:rPr lang="en-US" sz="23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K-Nearest Neighbors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270411" y="4687169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31013" y="4845158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270411" y="6312569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131013" y="6470558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711570" y="5047148"/>
            <a:ext cx="4094291" cy="40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7"/>
              </a:lnSpc>
            </a:pPr>
            <a:r>
              <a:rPr lang="en-US" sz="23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Random Forest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97261" y="5104594"/>
            <a:ext cx="511963" cy="41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1497261" y="6775445"/>
            <a:ext cx="511963" cy="41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2711570" y="6664611"/>
            <a:ext cx="3835051" cy="40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7"/>
              </a:lnSpc>
            </a:pPr>
            <a:r>
              <a:rPr lang="en-US" sz="230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K-means (non supervisé)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27129" y="2295265"/>
            <a:ext cx="7119492" cy="1944228"/>
            <a:chOff x="0" y="0"/>
            <a:chExt cx="1043079" cy="2848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3079" cy="284849"/>
            </a:xfrm>
            <a:custGeom>
              <a:avLst/>
              <a:gdLst/>
              <a:ahLst/>
              <a:cxnLst/>
              <a:rect r="r" b="b" t="t" l="l"/>
              <a:pathLst>
                <a:path h="284849" w="1043079">
                  <a:moveTo>
                    <a:pt x="25011" y="0"/>
                  </a:moveTo>
                  <a:lnTo>
                    <a:pt x="1018068" y="0"/>
                  </a:lnTo>
                  <a:cubicBezTo>
                    <a:pt x="1031881" y="0"/>
                    <a:pt x="1043079" y="11198"/>
                    <a:pt x="1043079" y="25011"/>
                  </a:cubicBezTo>
                  <a:lnTo>
                    <a:pt x="1043079" y="259839"/>
                  </a:lnTo>
                  <a:cubicBezTo>
                    <a:pt x="1043079" y="266472"/>
                    <a:pt x="1040444" y="272833"/>
                    <a:pt x="1035753" y="277524"/>
                  </a:cubicBezTo>
                  <a:cubicBezTo>
                    <a:pt x="1031063" y="282214"/>
                    <a:pt x="1024701" y="284849"/>
                    <a:pt x="1018068" y="284849"/>
                  </a:cubicBezTo>
                  <a:lnTo>
                    <a:pt x="25011" y="284849"/>
                  </a:lnTo>
                  <a:cubicBezTo>
                    <a:pt x="11198" y="284849"/>
                    <a:pt x="0" y="273652"/>
                    <a:pt x="0" y="259839"/>
                  </a:cubicBezTo>
                  <a:lnTo>
                    <a:pt x="0" y="25011"/>
                  </a:lnTo>
                  <a:cubicBezTo>
                    <a:pt x="0" y="11198"/>
                    <a:pt x="11198" y="0"/>
                    <a:pt x="25011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579" r="0" b="-579"/>
              </a:stretch>
            </a:blipFill>
            <a:ln w="76200" cap="rnd">
              <a:gradFill>
                <a:gsLst>
                  <a:gs pos="0">
                    <a:srgbClr val="22588D">
                      <a:alpha val="100000"/>
                    </a:srgbClr>
                  </a:gs>
                  <a:gs pos="100000">
                    <a:srgbClr val="58A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567310" y="2002759"/>
            <a:ext cx="3144598" cy="6222128"/>
            <a:chOff x="0" y="0"/>
            <a:chExt cx="2620010" cy="5184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01070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1"/>
              <a:stretch>
                <a:fillRect l="-112" t="0" r="-112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-3410411" y="276209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3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6850" y="1028700"/>
            <a:ext cx="327451" cy="438195"/>
          </a:xfrm>
          <a:custGeom>
            <a:avLst/>
            <a:gdLst/>
            <a:ahLst/>
            <a:cxnLst/>
            <a:rect r="r" b="b" t="t" l="l"/>
            <a:pathLst>
              <a:path h="438195" w="327451">
                <a:moveTo>
                  <a:pt x="0" y="0"/>
                </a:moveTo>
                <a:lnTo>
                  <a:pt x="327452" y="0"/>
                </a:lnTo>
                <a:lnTo>
                  <a:pt x="327452" y="438195"/>
                </a:lnTo>
                <a:lnTo>
                  <a:pt x="0" y="438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71939" y="-1286928"/>
            <a:ext cx="1965352" cy="3532496"/>
          </a:xfrm>
          <a:custGeom>
            <a:avLst/>
            <a:gdLst/>
            <a:ahLst/>
            <a:cxnLst/>
            <a:rect r="r" b="b" t="t" l="l"/>
            <a:pathLst>
              <a:path h="3532496" w="1965352">
                <a:moveTo>
                  <a:pt x="0" y="0"/>
                </a:moveTo>
                <a:lnTo>
                  <a:pt x="1965352" y="0"/>
                </a:lnTo>
                <a:lnTo>
                  <a:pt x="1965352" y="3532495"/>
                </a:lnTo>
                <a:lnTo>
                  <a:pt x="0" y="3532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810139" y="8233932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30"/>
                </a:lnTo>
                <a:lnTo>
                  <a:pt x="0" y="10640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66248" y="4823728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6850" y="4981717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26850" y="2378917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RÉSULTATS DES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6850" y="3390734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MODÈLES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6134" y="1019175"/>
            <a:ext cx="1532910" cy="21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9"/>
              </a:lnSpc>
            </a:pPr>
            <a:r>
              <a:rPr lang="en-US" b="true" sz="139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SARA EL IMRANI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7189" y="5133975"/>
            <a:ext cx="470203" cy="21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9"/>
              </a:lnSpc>
            </a:pPr>
            <a:r>
              <a:rPr lang="en-US" b="true" sz="1391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09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766248" y="6449128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26850" y="6607117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932590" y="5178110"/>
            <a:ext cx="4165248" cy="40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</a:pPr>
            <a:r>
              <a:rPr lang="en-US" sz="2238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Accuracy = 0,99 (3 modèles)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93097" y="5250678"/>
            <a:ext cx="511963" cy="36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5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993097" y="6921529"/>
            <a:ext cx="511963" cy="36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5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186561" y="6876269"/>
            <a:ext cx="2986326" cy="40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</a:pPr>
            <a:r>
              <a:rPr lang="en-US" sz="2238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Matrice de Confusion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7859489" y="1839976"/>
            <a:ext cx="3266853" cy="3266853"/>
            <a:chOff x="0" y="0"/>
            <a:chExt cx="14840029" cy="148400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58A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4"/>
              <a:stretch>
                <a:fillRect l="-27" t="0" r="-27" b="0"/>
              </a:stretch>
            </a:blip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7872553" y="5180171"/>
            <a:ext cx="3266853" cy="3266853"/>
            <a:chOff x="0" y="0"/>
            <a:chExt cx="14840029" cy="148400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58A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5"/>
              <a:stretch>
                <a:fillRect l="-27" t="0" r="-27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596605" y="3484211"/>
            <a:ext cx="5886226" cy="463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5"/>
              </a:lnSpc>
            </a:pPr>
            <a:r>
              <a:rPr lang="en-US" sz="2046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Les trois modèles supervisés (Régression logistique, KNN et Random Forest) atteignent une accuracy identique de 0,99 sur le jeu de test.</a:t>
            </a:r>
          </a:p>
          <a:p>
            <a:pPr algn="l" marL="0" indent="0" lvl="0">
              <a:lnSpc>
                <a:spcPts val="2435"/>
              </a:lnSpc>
            </a:pPr>
          </a:p>
          <a:p>
            <a:pPr algn="l" marL="0" indent="0" lvl="0">
              <a:lnSpc>
                <a:spcPts val="2435"/>
              </a:lnSpc>
            </a:pPr>
            <a:r>
              <a:rPr lang="en-US" sz="2046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Matrice de confusion (300 billets de test) :</a:t>
            </a:r>
          </a:p>
          <a:p>
            <a:pPr algn="l" marL="0" indent="0" lvl="0">
              <a:lnSpc>
                <a:spcPts val="2435"/>
              </a:lnSpc>
            </a:pPr>
            <a:r>
              <a:rPr lang="en-US" sz="2046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• 98 faux billets correctement détectés</a:t>
            </a:r>
          </a:p>
          <a:p>
            <a:pPr algn="l" marL="0" indent="0" lvl="0">
              <a:lnSpc>
                <a:spcPts val="2435"/>
              </a:lnSpc>
            </a:pPr>
            <a:r>
              <a:rPr lang="en-US" sz="2046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• 2 faux billets acceptés à tort comme vrais</a:t>
            </a:r>
          </a:p>
          <a:p>
            <a:pPr algn="l" marL="0" indent="0" lvl="0">
              <a:lnSpc>
                <a:spcPts val="2435"/>
              </a:lnSpc>
            </a:pPr>
            <a:r>
              <a:rPr lang="en-US" sz="2046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• 199 vrais billets correctement reconnus</a:t>
            </a:r>
          </a:p>
          <a:p>
            <a:pPr algn="l" marL="0" indent="0" lvl="0">
              <a:lnSpc>
                <a:spcPts val="2435"/>
              </a:lnSpc>
            </a:pPr>
            <a:r>
              <a:rPr lang="en-US" sz="2046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• 1 vrai billet rejeté à tort</a:t>
            </a:r>
          </a:p>
          <a:p>
            <a:pPr algn="l" marL="0" indent="0" lvl="0">
              <a:lnSpc>
                <a:spcPts val="2435"/>
              </a:lnSpc>
            </a:pPr>
          </a:p>
          <a:p>
            <a:pPr algn="l" marL="0" indent="0" lvl="0">
              <a:lnSpc>
                <a:spcPts val="2435"/>
              </a:lnSpc>
            </a:pPr>
            <a:r>
              <a:rPr lang="en-US" sz="2046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Ces résultats démontrent une très haute fiabilité de détection. Seules 3 erreurs sur 300 observations, ce qui confirme la robustesse des modèles sur ce jeu de données.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353769"/>
            <a:ext cx="8695097" cy="5579462"/>
          </a:xfrm>
          <a:custGeom>
            <a:avLst/>
            <a:gdLst/>
            <a:ahLst/>
            <a:cxnLst/>
            <a:rect r="r" b="b" t="t" l="l"/>
            <a:pathLst>
              <a:path h="5579462" w="8695097">
                <a:moveTo>
                  <a:pt x="0" y="0"/>
                </a:moveTo>
                <a:lnTo>
                  <a:pt x="8695097" y="0"/>
                </a:lnTo>
                <a:lnTo>
                  <a:pt x="8695097" y="5579462"/>
                </a:lnTo>
                <a:lnTo>
                  <a:pt x="0" y="55794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7189" y="5133975"/>
            <a:ext cx="470203" cy="29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1"/>
              </a:lnSpc>
            </a:pPr>
            <a:r>
              <a:rPr lang="en-US" b="true" sz="1898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85722" y="940673"/>
            <a:ext cx="7373578" cy="8474110"/>
            <a:chOff x="0" y="0"/>
            <a:chExt cx="9831438" cy="1129881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0"/>
              <a:ext cx="9831438" cy="2005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711"/>
                </a:lnSpc>
              </a:pPr>
              <a:r>
                <a:rPr lang="en-US" sz="5599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COURBE D’APPRENTISSAGE DU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45372" y="2777173"/>
              <a:ext cx="8482410" cy="85216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88"/>
                </a:lnSpc>
              </a:pPr>
              <a:r>
                <a:rPr lang="en-US" b="true" sz="1839">
                  <a:solidFill>
                    <a:srgbClr val="FCFE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Obj</a:t>
              </a:r>
              <a:r>
                <a:rPr lang="en-US" b="true" sz="1839">
                  <a:solidFill>
                    <a:srgbClr val="FCFE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ectif</a:t>
              </a:r>
            </a:p>
            <a:p>
              <a:pPr algn="l" marL="0" indent="0" lvl="0">
                <a:lnSpc>
                  <a:spcPts val="2188"/>
                </a:lnSpc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Vérifier si le modèle apprend correctement et s’il présente un risque de surapprentissage.</a:t>
              </a:r>
            </a:p>
            <a:p>
              <a:pPr algn="l" marL="0" indent="0" lvl="0">
                <a:lnSpc>
                  <a:spcPts val="2188"/>
                </a:lnSpc>
              </a:pPr>
            </a:p>
            <a:p>
              <a:pPr algn="l" marL="0" indent="0" lvl="0">
                <a:lnSpc>
                  <a:spcPts val="2188"/>
                </a:lnSpc>
              </a:pPr>
              <a:r>
                <a:rPr lang="en-US" b="true" sz="1839">
                  <a:solidFill>
                    <a:srgbClr val="FCFE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Observations</a:t>
              </a:r>
            </a:p>
            <a:p>
              <a:pPr algn="l" marL="397092" indent="-198546" lvl="1">
                <a:lnSpc>
                  <a:spcPts val="2188"/>
                </a:lnSpc>
                <a:buFont typeface="Arial"/>
                <a:buChar char="•"/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Le score d’entraînement est très élevé, proche de 1,00.</a:t>
              </a:r>
            </a:p>
            <a:p>
              <a:pPr algn="l" marL="397092" indent="-198546" lvl="1">
                <a:lnSpc>
                  <a:spcPts val="2188"/>
                </a:lnSpc>
                <a:buFont typeface="Arial"/>
                <a:buChar char="•"/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Le score de validation augmente progressivement avec la taille des données.</a:t>
              </a:r>
            </a:p>
            <a:p>
              <a:pPr algn="l" marL="397092" indent="-198546" lvl="1">
                <a:lnSpc>
                  <a:spcPts val="2188"/>
                </a:lnSpc>
                <a:buFont typeface="Arial"/>
                <a:buChar char="•"/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Le score de validation atteint environ 0,992.</a:t>
              </a:r>
            </a:p>
            <a:p>
              <a:pPr algn="l" marL="397092" indent="-198546" lvl="1">
                <a:lnSpc>
                  <a:spcPts val="2188"/>
                </a:lnSpc>
                <a:buFont typeface="Arial"/>
                <a:buChar char="•"/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L’écart entre les deux courbes reste faible.</a:t>
              </a:r>
            </a:p>
            <a:p>
              <a:pPr algn="l">
                <a:lnSpc>
                  <a:spcPts val="2188"/>
                </a:lnSpc>
              </a:pPr>
            </a:p>
            <a:p>
              <a:pPr algn="l" marL="0" indent="0" lvl="0">
                <a:lnSpc>
                  <a:spcPts val="2188"/>
                </a:lnSpc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I</a:t>
              </a:r>
              <a:r>
                <a:rPr lang="en-US" b="true" sz="1839">
                  <a:solidFill>
                    <a:srgbClr val="FCFE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nterprétation</a:t>
              </a:r>
            </a:p>
            <a:p>
              <a:pPr algn="l" marL="397092" indent="-198546" lvl="1">
                <a:lnSpc>
                  <a:spcPts val="2188"/>
                </a:lnSpc>
                <a:buFont typeface="Arial"/>
                <a:buChar char="•"/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Le modèle présente un léger surapprentissage.</a:t>
              </a:r>
            </a:p>
            <a:p>
              <a:pPr algn="l" marL="397092" indent="-198546" lvl="1">
                <a:lnSpc>
                  <a:spcPts val="2188"/>
                </a:lnSpc>
                <a:buFont typeface="Arial"/>
                <a:buChar char="•"/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Cependant, ce surapprentissage reste limité.</a:t>
              </a:r>
            </a:p>
            <a:p>
              <a:pPr algn="l" marL="397092" indent="-198546" lvl="1">
                <a:lnSpc>
                  <a:spcPts val="2188"/>
                </a:lnSpc>
                <a:buFont typeface="Arial"/>
                <a:buChar char="•"/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Le Random Forest généralise correctement sur de nouvelles données.</a:t>
              </a:r>
            </a:p>
            <a:p>
              <a:pPr algn="l">
                <a:lnSpc>
                  <a:spcPts val="2188"/>
                </a:lnSpc>
              </a:pPr>
            </a:p>
            <a:p>
              <a:pPr algn="l" marL="0" indent="0" lvl="0">
                <a:lnSpc>
                  <a:spcPts val="2188"/>
                </a:lnSpc>
              </a:pPr>
              <a:r>
                <a:rPr lang="en-US" b="true" sz="1839">
                  <a:solidFill>
                    <a:srgbClr val="FCFE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Conclusion</a:t>
              </a:r>
            </a:p>
            <a:p>
              <a:pPr algn="l" marL="0" indent="0" lvl="0">
                <a:lnSpc>
                  <a:spcPts val="2188"/>
                </a:lnSpc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La courbe d’apprentissage confirme que le modèle est performant et stable, malgré un léger écart entre apprentissage et validation.</a:t>
              </a:r>
            </a:p>
            <a:p>
              <a:pPr algn="l" marL="0" indent="0" lvl="0">
                <a:lnSpc>
                  <a:spcPts val="218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723998" y="1774205"/>
            <a:ext cx="6105749" cy="756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11"/>
              </a:lnSpc>
            </a:pPr>
            <a:r>
              <a:rPr lang="en-US" sz="5599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R</a:t>
            </a:r>
            <a:r>
              <a:rPr lang="en-US" sz="5599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ANDOM FOREST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65744" y="840235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6850" y="2378917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MÉTRIQUES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6850" y="3390734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DÉCISIVES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189" y="5133975"/>
            <a:ext cx="470203" cy="29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1"/>
              </a:lnSpc>
            </a:pPr>
            <a:r>
              <a:rPr lang="en-US" b="true" sz="1898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10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382746" y="2065380"/>
            <a:ext cx="6440355" cy="6440355"/>
            <a:chOff x="0" y="0"/>
            <a:chExt cx="14840029" cy="14840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58A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-27" t="0" r="-27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9144000" y="4200331"/>
            <a:ext cx="3517269" cy="3517269"/>
            <a:chOff x="0" y="0"/>
            <a:chExt cx="14840029" cy="148400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58A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-27" t="0" r="-27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4012279" y="771760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683604" y="-1286861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00295" y="4711611"/>
            <a:ext cx="6814052" cy="147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0"/>
              </a:lnSpc>
            </a:pPr>
            <a:r>
              <a:rPr lang="en-US" sz="189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Rappel (classe faux) : 0,98 — Sur 100 faux billets, 98 sont correctement détectés. Spécificité : 0,995 — Seulement 1 vrai billet sur 200 est rejeté à tort. Ces deux métriques sont prioritaires car l'enjeu opérationnel est d'intercepter les faux billets avant qu'ils circulent.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0295" y="6752247"/>
            <a:ext cx="6814052" cy="176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0"/>
              </a:lnSpc>
            </a:pPr>
            <a:r>
              <a:rPr lang="en-US" sz="1899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Pourquoi l'accuracy seule ne suffit pas : avec un jeu déséquilibré (66,7 % vrais / 33,3 % faux), un modèle naïf prédisant toujours "vrai" atteindrait ~67 % d'accuracy sans détecter un seul faux. Le rappel et la spécificité capturent les deux types d'erreur séparément et reflètent le coût asymétrique des faux négatifs dans ce contexte.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10139" y="8233932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30"/>
                </a:lnTo>
                <a:lnTo>
                  <a:pt x="0" y="10640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6850" y="2378917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ANALYSE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6850" y="3390734"/>
            <a:ext cx="6105749" cy="103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8"/>
              </a:lnSpc>
            </a:pPr>
            <a:r>
              <a:rPr lang="en-US" sz="7664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K-MEANS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7189" y="5124450"/>
            <a:ext cx="470203" cy="30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3"/>
              </a:lnSpc>
            </a:pPr>
            <a:r>
              <a:rPr lang="en-US" b="true" sz="1858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64860" y="4738896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25462" y="4896884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4"/>
                </a:lnTo>
                <a:lnTo>
                  <a:pt x="0" y="10699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64860" y="6364296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25462" y="6522285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99304" y="5089350"/>
            <a:ext cx="2986326" cy="47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</a:pPr>
            <a:r>
              <a:rPr lang="en-US" sz="272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Cluster 0: 95 faux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91709" y="5146796"/>
            <a:ext cx="511963" cy="48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891709" y="6817647"/>
            <a:ext cx="511963" cy="48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999304" y="6706813"/>
            <a:ext cx="3644551" cy="47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</a:pPr>
            <a:r>
              <a:rPr lang="en-US" sz="272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Cluster 1: 199 vrais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94818" y="4738896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455420" y="4896884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4"/>
                </a:lnTo>
                <a:lnTo>
                  <a:pt x="0" y="10699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594818" y="6364296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455420" y="6522285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929262" y="5089350"/>
            <a:ext cx="3676668" cy="47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</a:pPr>
            <a:r>
              <a:rPr lang="en-US" sz="272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Silhouette: 0,5052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21667" y="5146796"/>
            <a:ext cx="511963" cy="48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821667" y="6817647"/>
            <a:ext cx="511963" cy="48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8929262" y="6706813"/>
            <a:ext cx="3676668" cy="47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</a:pPr>
            <a:r>
              <a:rPr lang="en-US" sz="272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Random Forest retenu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29675" y="2110282"/>
            <a:ext cx="7966645" cy="192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6"/>
              </a:lnSpc>
            </a:pPr>
            <a:r>
              <a:rPr lang="en-US" sz="208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K-means appliqué sur les six variables géométriques révèle deux clusters naturels. Le score de silhouette de 0,5052 indique une séparation acceptable.  </a:t>
            </a:r>
          </a:p>
          <a:p>
            <a:pPr algn="l" marL="0" indent="0" lvl="0">
              <a:lnSpc>
                <a:spcPts val="2476"/>
              </a:lnSpc>
            </a:pPr>
            <a:r>
              <a:rPr lang="en-US" sz="2080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Le Random Forest est retenu comme modèle final car la cible is_genuine est connue et son AUC de 0,99935 est la plus élevée parmi tous les modèles évalués.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995987" y="2466296"/>
            <a:ext cx="2779619" cy="5354408"/>
            <a:chOff x="0" y="0"/>
            <a:chExt cx="407243" cy="7844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7243" cy="784476"/>
            </a:xfrm>
            <a:custGeom>
              <a:avLst/>
              <a:gdLst/>
              <a:ahLst/>
              <a:cxnLst/>
              <a:rect r="r" b="b" t="t" l="l"/>
              <a:pathLst>
                <a:path h="784476" w="407243">
                  <a:moveTo>
                    <a:pt x="64061" y="0"/>
                  </a:moveTo>
                  <a:lnTo>
                    <a:pt x="343182" y="0"/>
                  </a:lnTo>
                  <a:cubicBezTo>
                    <a:pt x="378562" y="0"/>
                    <a:pt x="407243" y="28681"/>
                    <a:pt x="407243" y="64061"/>
                  </a:cubicBezTo>
                  <a:lnTo>
                    <a:pt x="407243" y="720415"/>
                  </a:lnTo>
                  <a:cubicBezTo>
                    <a:pt x="407243" y="755795"/>
                    <a:pt x="378562" y="784476"/>
                    <a:pt x="343182" y="784476"/>
                  </a:cubicBezTo>
                  <a:lnTo>
                    <a:pt x="64061" y="784476"/>
                  </a:lnTo>
                  <a:cubicBezTo>
                    <a:pt x="28681" y="784476"/>
                    <a:pt x="0" y="755795"/>
                    <a:pt x="0" y="720415"/>
                  </a:cubicBezTo>
                  <a:lnTo>
                    <a:pt x="0" y="64061"/>
                  </a:lnTo>
                  <a:cubicBezTo>
                    <a:pt x="0" y="28681"/>
                    <a:pt x="28681" y="0"/>
                    <a:pt x="64061" y="0"/>
                  </a:cubicBezTo>
                  <a:close/>
                </a:path>
              </a:pathLst>
            </a:custGeom>
            <a:blipFill>
              <a:blip r:embed="rId11"/>
              <a:stretch>
                <a:fillRect l="-9836" t="0" r="-9836" b="0"/>
              </a:stretch>
            </a:blipFill>
            <a:ln w="76200" cap="rnd">
              <a:gradFill>
                <a:gsLst>
                  <a:gs pos="0">
                    <a:srgbClr val="22588D">
                      <a:alpha val="100000"/>
                    </a:srgbClr>
                  </a:gs>
                  <a:gs pos="100000">
                    <a:srgbClr val="58A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3978692" y="-102870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978692" y="7342958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80169" y="2278240"/>
            <a:ext cx="7163831" cy="5645131"/>
          </a:xfrm>
          <a:custGeom>
            <a:avLst/>
            <a:gdLst/>
            <a:ahLst/>
            <a:cxnLst/>
            <a:rect r="r" b="b" t="t" l="l"/>
            <a:pathLst>
              <a:path h="5645131" w="7163831">
                <a:moveTo>
                  <a:pt x="0" y="0"/>
                </a:moveTo>
                <a:lnTo>
                  <a:pt x="7163831" y="0"/>
                </a:lnTo>
                <a:lnTo>
                  <a:pt x="7163831" y="5645130"/>
                </a:lnTo>
                <a:lnTo>
                  <a:pt x="0" y="5645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093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7189" y="5133975"/>
            <a:ext cx="470203" cy="29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1"/>
              </a:lnSpc>
            </a:pPr>
            <a:r>
              <a:rPr lang="en-US" b="true" sz="1898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34783" y="1701766"/>
            <a:ext cx="6544410" cy="7309274"/>
            <a:chOff x="0" y="0"/>
            <a:chExt cx="8725880" cy="974569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3350"/>
              <a:ext cx="8140998" cy="1419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8"/>
                </a:lnSpc>
              </a:pPr>
              <a:r>
                <a:rPr lang="en-US" sz="7664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COMPARAISON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482439"/>
              <a:ext cx="8140998" cy="1419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8"/>
                </a:lnSpc>
              </a:pPr>
              <a:r>
                <a:rPr lang="en-US" sz="7664">
                  <a:solidFill>
                    <a:srgbClr val="86DAFF"/>
                  </a:solidFill>
                  <a:latin typeface="Anton"/>
                  <a:ea typeface="Anton"/>
                  <a:cs typeface="Anton"/>
                  <a:sym typeface="Anton"/>
                </a:rPr>
                <a:t>ROC-AUC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433860"/>
              <a:ext cx="8725880" cy="6311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88"/>
                </a:lnSpc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Les trois modèles supervisés affichent des AUC très proches du maximum théorique de 1,0 :</a:t>
              </a:r>
            </a:p>
            <a:p>
              <a:pPr algn="l" marL="0" indent="0" lvl="0">
                <a:lnSpc>
                  <a:spcPts val="2188"/>
                </a:lnSpc>
              </a:pPr>
            </a:p>
            <a:p>
              <a:pPr algn="l" marL="0" indent="0" lvl="0">
                <a:lnSpc>
                  <a:spcPts val="2188"/>
                </a:lnSpc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• Régression Logistique : AUC = 0,99930</a:t>
              </a:r>
            </a:p>
            <a:p>
              <a:pPr algn="l" marL="0" indent="0" lvl="0">
                <a:lnSpc>
                  <a:spcPts val="2188"/>
                </a:lnSpc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• K-Nearest Neighbors (KNN) : AUC = 0,99215</a:t>
              </a:r>
            </a:p>
            <a:p>
              <a:pPr algn="l" marL="0" indent="0" lvl="0">
                <a:lnSpc>
                  <a:spcPts val="2188"/>
                </a:lnSpc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• Random Forest : AUC = 0,99935</a:t>
              </a:r>
            </a:p>
            <a:p>
              <a:pPr algn="l" marL="0" indent="0" lvl="0">
                <a:lnSpc>
                  <a:spcPts val="2188"/>
                </a:lnSpc>
              </a:pPr>
            </a:p>
            <a:p>
              <a:pPr algn="l" marL="0" indent="0" lvl="0">
                <a:lnSpc>
                  <a:spcPts val="2188"/>
                </a:lnSpc>
              </a:pPr>
              <a:r>
                <a:rPr lang="en-US" sz="1839">
                  <a:solidFill>
                    <a:srgbClr val="FCFEFF"/>
                  </a:solidFill>
                  <a:latin typeface="Agrandir"/>
                  <a:ea typeface="Agrandir"/>
                  <a:cs typeface="Agrandir"/>
                  <a:sym typeface="Agrandir"/>
                </a:rPr>
                <a:t>La courbe ROC trace le taux de vrais positifs en fonction du taux de faux positifs pour chaque seuil de décision. Une AUC proche de 1 indique une excellente capacité discriminante. Les écarts entre les trois modèles sont infimes (&lt; 0,007), confirmant que tous distinguent efficacement vrais et faux billets. Le Random Forest obtient l'AUC la plus élevée (0,99935), devant la régression logistique (0,99930) et KNN (0,99215). Ce critère, combiné à la matrice de confusion, conforte le choix du Random Forest comme modèle final.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4741" y="-5415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46" r="0" b="-64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4693282"/>
            <a:ext cx="869328" cy="1013993"/>
          </a:xfrm>
          <a:custGeom>
            <a:avLst/>
            <a:gdLst/>
            <a:ahLst/>
            <a:cxnLst/>
            <a:rect r="r" b="b" t="t" l="l"/>
            <a:pathLst>
              <a:path h="1013993" w="869328">
                <a:moveTo>
                  <a:pt x="0" y="0"/>
                </a:moveTo>
                <a:lnTo>
                  <a:pt x="869328" y="0"/>
                </a:lnTo>
                <a:lnTo>
                  <a:pt x="869328" y="1013993"/>
                </a:lnTo>
                <a:lnTo>
                  <a:pt x="0" y="1013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35767" y="5143500"/>
            <a:ext cx="447065" cy="393411"/>
          </a:xfrm>
          <a:custGeom>
            <a:avLst/>
            <a:gdLst/>
            <a:ahLst/>
            <a:cxnLst/>
            <a:rect r="r" b="b" t="t" l="l"/>
            <a:pathLst>
              <a:path h="393411" w="447065">
                <a:moveTo>
                  <a:pt x="0" y="0"/>
                </a:moveTo>
                <a:lnTo>
                  <a:pt x="447066" y="0"/>
                </a:lnTo>
                <a:lnTo>
                  <a:pt x="447066" y="393411"/>
                </a:lnTo>
                <a:lnTo>
                  <a:pt x="0" y="3934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85" t="0" r="-28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10135" y="8233934"/>
            <a:ext cx="7315200" cy="1064028"/>
          </a:xfrm>
          <a:custGeom>
            <a:avLst/>
            <a:gdLst/>
            <a:ahLst/>
            <a:cxnLst/>
            <a:rect r="r" b="b" t="t" l="l"/>
            <a:pathLst>
              <a:path h="1064028" w="7315200">
                <a:moveTo>
                  <a:pt x="0" y="0"/>
                </a:moveTo>
                <a:lnTo>
                  <a:pt x="7315200" y="0"/>
                </a:lnTo>
                <a:lnTo>
                  <a:pt x="7315200" y="1064028"/>
                </a:lnTo>
                <a:lnTo>
                  <a:pt x="0" y="10640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77" r="0" b="-57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50085" y="1102176"/>
            <a:ext cx="6105754" cy="133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7"/>
              </a:lnSpc>
            </a:pPr>
            <a:r>
              <a:rPr lang="en-US" sz="39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APPLICATION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9594" y="1689192"/>
            <a:ext cx="6105754" cy="133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7"/>
              </a:lnSpc>
            </a:pPr>
            <a:r>
              <a:rPr lang="en-US" sz="3999" b="true">
                <a:solidFill>
                  <a:srgbClr val="63D6FF"/>
                </a:solidFill>
                <a:latin typeface="Arial Bold"/>
                <a:ea typeface="Arial Bold"/>
                <a:cs typeface="Arial Bold"/>
                <a:sym typeface="Arial Bold"/>
              </a:rPr>
              <a:t>FONCTIONNELLE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193" y="5086350"/>
            <a:ext cx="470202" cy="34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3"/>
              </a:lnSpc>
            </a:pPr>
            <a:r>
              <a:rPr lang="en-US" sz="1400" b="true">
                <a:solidFill>
                  <a:srgbClr val="1F5483"/>
                </a:solidFill>
                <a:latin typeface="Arial Bold"/>
                <a:ea typeface="Arial Bold"/>
                <a:cs typeface="Arial Bold"/>
                <a:sym typeface="Arial Bold"/>
              </a:rPr>
              <a:t>14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64856" y="4738897"/>
            <a:ext cx="5276212" cy="1323851"/>
          </a:xfrm>
          <a:custGeom>
            <a:avLst/>
            <a:gdLst/>
            <a:ahLst/>
            <a:cxnLst/>
            <a:rect r="r" b="b" t="t" l="l"/>
            <a:pathLst>
              <a:path h="1323851" w="5276212">
                <a:moveTo>
                  <a:pt x="0" y="0"/>
                </a:moveTo>
                <a:lnTo>
                  <a:pt x="5276212" y="0"/>
                </a:lnTo>
                <a:lnTo>
                  <a:pt x="5276212" y="1323851"/>
                </a:lnTo>
                <a:lnTo>
                  <a:pt x="0" y="13238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81" t="0" r="-181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5457" y="4896888"/>
            <a:ext cx="1069981" cy="1069981"/>
          </a:xfrm>
          <a:custGeom>
            <a:avLst/>
            <a:gdLst/>
            <a:ahLst/>
            <a:cxnLst/>
            <a:rect r="r" b="b" t="t" l="l"/>
            <a:pathLst>
              <a:path h="1069981" w="1069981">
                <a:moveTo>
                  <a:pt x="0" y="0"/>
                </a:moveTo>
                <a:lnTo>
                  <a:pt x="1069982" y="0"/>
                </a:lnTo>
                <a:lnTo>
                  <a:pt x="1069982" y="1069982"/>
                </a:lnTo>
                <a:lnTo>
                  <a:pt x="0" y="10699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4856" y="6364300"/>
            <a:ext cx="5276212" cy="1323851"/>
          </a:xfrm>
          <a:custGeom>
            <a:avLst/>
            <a:gdLst/>
            <a:ahLst/>
            <a:cxnLst/>
            <a:rect r="r" b="b" t="t" l="l"/>
            <a:pathLst>
              <a:path h="1323851" w="5276212">
                <a:moveTo>
                  <a:pt x="0" y="0"/>
                </a:moveTo>
                <a:lnTo>
                  <a:pt x="5276212" y="0"/>
                </a:lnTo>
                <a:lnTo>
                  <a:pt x="5276212" y="1323851"/>
                </a:lnTo>
                <a:lnTo>
                  <a:pt x="0" y="13238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81" t="0" r="-18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25457" y="6522282"/>
            <a:ext cx="1069981" cy="1069981"/>
          </a:xfrm>
          <a:custGeom>
            <a:avLst/>
            <a:gdLst/>
            <a:ahLst/>
            <a:cxnLst/>
            <a:rect r="r" b="b" t="t" l="l"/>
            <a:pathLst>
              <a:path h="1069981" w="1069981">
                <a:moveTo>
                  <a:pt x="0" y="0"/>
                </a:moveTo>
                <a:lnTo>
                  <a:pt x="1069982" y="0"/>
                </a:lnTo>
                <a:lnTo>
                  <a:pt x="1069982" y="1069981"/>
                </a:lnTo>
                <a:lnTo>
                  <a:pt x="0" y="10699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999308" y="4965525"/>
            <a:ext cx="2986326" cy="60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Saisie d’un billet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99308" y="6582985"/>
            <a:ext cx="3644551" cy="60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 fichier CSV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594816" y="4738897"/>
            <a:ext cx="5276212" cy="1323851"/>
          </a:xfrm>
          <a:custGeom>
            <a:avLst/>
            <a:gdLst/>
            <a:ahLst/>
            <a:cxnLst/>
            <a:rect r="r" b="b" t="t" l="l"/>
            <a:pathLst>
              <a:path h="1323851" w="5276212">
                <a:moveTo>
                  <a:pt x="0" y="0"/>
                </a:moveTo>
                <a:lnTo>
                  <a:pt x="5276212" y="0"/>
                </a:lnTo>
                <a:lnTo>
                  <a:pt x="5276212" y="1323851"/>
                </a:lnTo>
                <a:lnTo>
                  <a:pt x="0" y="13238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81" t="0" r="-181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455418" y="4896888"/>
            <a:ext cx="1069981" cy="1069981"/>
          </a:xfrm>
          <a:custGeom>
            <a:avLst/>
            <a:gdLst/>
            <a:ahLst/>
            <a:cxnLst/>
            <a:rect r="r" b="b" t="t" l="l"/>
            <a:pathLst>
              <a:path h="1069981" w="1069981">
                <a:moveTo>
                  <a:pt x="0" y="0"/>
                </a:moveTo>
                <a:lnTo>
                  <a:pt x="1069981" y="0"/>
                </a:lnTo>
                <a:lnTo>
                  <a:pt x="1069981" y="1069982"/>
                </a:lnTo>
                <a:lnTo>
                  <a:pt x="0" y="10699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594816" y="6364300"/>
            <a:ext cx="5276212" cy="1323851"/>
          </a:xfrm>
          <a:custGeom>
            <a:avLst/>
            <a:gdLst/>
            <a:ahLst/>
            <a:cxnLst/>
            <a:rect r="r" b="b" t="t" l="l"/>
            <a:pathLst>
              <a:path h="1323851" w="5276212">
                <a:moveTo>
                  <a:pt x="0" y="0"/>
                </a:moveTo>
                <a:lnTo>
                  <a:pt x="5276212" y="0"/>
                </a:lnTo>
                <a:lnTo>
                  <a:pt x="5276212" y="1323851"/>
                </a:lnTo>
                <a:lnTo>
                  <a:pt x="0" y="13238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81" t="0" r="-181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455418" y="6522282"/>
            <a:ext cx="1069981" cy="1069981"/>
          </a:xfrm>
          <a:custGeom>
            <a:avLst/>
            <a:gdLst/>
            <a:ahLst/>
            <a:cxnLst/>
            <a:rect r="r" b="b" t="t" l="l"/>
            <a:pathLst>
              <a:path h="1069981" w="1069981">
                <a:moveTo>
                  <a:pt x="0" y="0"/>
                </a:moveTo>
                <a:lnTo>
                  <a:pt x="1069981" y="0"/>
                </a:lnTo>
                <a:lnTo>
                  <a:pt x="1069981" y="1069981"/>
                </a:lnTo>
                <a:lnTo>
                  <a:pt x="0" y="10699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929259" y="4965525"/>
            <a:ext cx="3676669" cy="60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Prédiction 0 /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29259" y="6582985"/>
            <a:ext cx="3676669" cy="60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Probabilité affichée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49600" y="1059470"/>
            <a:ext cx="7966643" cy="253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6"/>
              </a:lnSpc>
            </a:pPr>
            <a:r>
              <a:rPr lang="en-US" sz="18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 notebook d’application charge le modèle Random Forest sauvegardé avec joblib.</a:t>
            </a:r>
          </a:p>
          <a:p>
            <a:pPr algn="l">
              <a:lnSpc>
                <a:spcPts val="2279"/>
              </a:lnSpc>
            </a:pP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L’utilisateur peut saisir les six mesures d’un billet ou importer un fichier CSV.</a:t>
            </a:r>
          </a:p>
          <a:p>
            <a:pPr algn="l">
              <a:lnSpc>
                <a:spcPts val="2279"/>
              </a:lnSpc>
            </a:pP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sortie contient une prédiction binaire : 0 = faux billet, 1 = billet authentique, avec une probabilité d’authenticité.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389079" y="2206247"/>
            <a:ext cx="3299717" cy="5874506"/>
            <a:chOff x="0" y="0"/>
            <a:chExt cx="4399623" cy="78326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99534" cy="7832598"/>
            </a:xfrm>
            <a:custGeom>
              <a:avLst/>
              <a:gdLst/>
              <a:ahLst/>
              <a:cxnLst/>
              <a:rect r="r" b="b" t="t" l="l"/>
              <a:pathLst>
                <a:path h="7832598" w="4399534">
                  <a:moveTo>
                    <a:pt x="692023" y="0"/>
                  </a:moveTo>
                  <a:lnTo>
                    <a:pt x="3707511" y="0"/>
                  </a:lnTo>
                  <a:cubicBezTo>
                    <a:pt x="4089781" y="0"/>
                    <a:pt x="4399534" y="286385"/>
                    <a:pt x="4399534" y="639572"/>
                  </a:cubicBezTo>
                  <a:lnTo>
                    <a:pt x="4399534" y="7193026"/>
                  </a:lnTo>
                  <a:cubicBezTo>
                    <a:pt x="4399534" y="7546340"/>
                    <a:pt x="4089654" y="7832598"/>
                    <a:pt x="3707511" y="7832598"/>
                  </a:cubicBezTo>
                  <a:lnTo>
                    <a:pt x="692023" y="7832598"/>
                  </a:lnTo>
                  <a:cubicBezTo>
                    <a:pt x="309880" y="7832725"/>
                    <a:pt x="0" y="7546340"/>
                    <a:pt x="0" y="7193026"/>
                  </a:cubicBezTo>
                  <a:lnTo>
                    <a:pt x="0" y="639572"/>
                  </a:lnTo>
                  <a:cubicBezTo>
                    <a:pt x="0" y="286385"/>
                    <a:pt x="309880" y="0"/>
                    <a:pt x="692023" y="0"/>
                  </a:cubicBezTo>
                  <a:close/>
                </a:path>
              </a:pathLst>
            </a:custGeom>
            <a:blipFill>
              <a:blip r:embed="rId13"/>
              <a:stretch>
                <a:fillRect l="-5352" t="0" r="-5354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solidFill>
              <a:srgbClr val="22588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7189" y="5133975"/>
            <a:ext cx="470203" cy="29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1"/>
              </a:lnSpc>
            </a:pPr>
            <a:r>
              <a:rPr lang="en-US" b="true" sz="189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13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0"/>
            <a:ext cx="10287000" cy="10287000"/>
            <a:chOff x="0" y="0"/>
            <a:chExt cx="13716000" cy="13716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3716000" cy="13716000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56500"/>
                    </a:srgbClr>
                  </a:gs>
                  <a:gs pos="100000">
                    <a:srgbClr val="FFFFFF">
                      <a:alpha val="78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46281" y="1146281"/>
              <a:ext cx="11423438" cy="11423438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59000"/>
                    </a:srgbClr>
                  </a:gs>
                  <a:gs pos="100000">
                    <a:srgbClr val="FFFFFF">
                      <a:alpha val="4602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282373" y="2282373"/>
              <a:ext cx="9151254" cy="9151254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78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436503" y="2937731"/>
              <a:ext cx="4842995" cy="1197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504"/>
                </a:lnSpc>
              </a:pPr>
              <a:r>
                <a:rPr lang="en-US" sz="6377">
                  <a:solidFill>
                    <a:srgbClr val="22588D"/>
                  </a:solidFill>
                  <a:latin typeface="Anton"/>
                  <a:ea typeface="Anton"/>
                  <a:cs typeface="Anton"/>
                  <a:sym typeface="Anton"/>
                </a:rPr>
                <a:t>CONCLUSION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29935" y="3665734"/>
            <a:ext cx="6319417" cy="231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RANDOM FOREST RETENU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ACCURACY : 99 %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AUC : 0,99935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DÉTECTION DES FAUX BILLETS : 98 %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L’APPLICATION PERMET DE PRÉDIRE UN BILLET SEUL OU PLUSIEURS BILLETS À PARTIR D’UN FICHIER CSV.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DAHURK1qCas</dc:identifier>
  <dcterms:modified xsi:type="dcterms:W3CDTF">2011-08-01T06:04:30Z</dcterms:modified>
  <cp:revision>1</cp:revision>
  <dc:title>ELIMRANI_Sara_3_Presentation_082026</dc:title>
</cp:coreProperties>
</file>